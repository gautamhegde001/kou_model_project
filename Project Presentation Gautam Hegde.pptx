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1987540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4172580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871568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36C9A5-BCC8-42D4-B3CC-BDB3B2111420}"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20509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36C9A5-BCC8-42D4-B3CC-BDB3B2111420}" type="datetimeFigureOut">
              <a:rPr lang="en-US" smtClean="0"/>
              <a:t>3/20/2026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2677402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36C9A5-BCC8-42D4-B3CC-BDB3B2111420}" type="datetimeFigureOut">
              <a:rPr lang="en-US" smtClean="0"/>
              <a:t>3/20/2026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057548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36C9A5-BCC8-42D4-B3CC-BDB3B2111420}" type="datetimeFigureOut">
              <a:rPr lang="en-US" smtClean="0"/>
              <a:t>3/20/2026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874584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36C9A5-BCC8-42D4-B3CC-BDB3B2111420}"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405422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36C9A5-BCC8-42D4-B3CC-BDB3B2111420}"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2753298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1511022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51988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1139922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94848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2357336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332928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6C9A5-BCC8-42D4-B3CC-BDB3B2111420}"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549B6D-04C7-4204-AD7D-9F3348343548}" type="slidenum">
              <a:rPr lang="en-US" smtClean="0"/>
              <a:t>‹#›</a:t>
            </a:fld>
            <a:endParaRPr lang="en-US"/>
          </a:p>
        </p:txBody>
      </p:sp>
    </p:spTree>
    <p:extLst>
      <p:ext uri="{BB962C8B-B14F-4D97-AF65-F5344CB8AC3E}">
        <p14:creationId xmlns:p14="http://schemas.microsoft.com/office/powerpoint/2010/main" val="918987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C36C9A5-BCC8-42D4-B3CC-BDB3B2111420}" type="datetimeFigureOut">
              <a:rPr lang="en-US" smtClean="0"/>
              <a:t>3/20/2026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4549B6D-04C7-4204-AD7D-9F3348343548}" type="slidenum">
              <a:rPr lang="en-US" smtClean="0"/>
              <a:t>‹#›</a:t>
            </a:fld>
            <a:endParaRPr lang="en-US"/>
          </a:p>
        </p:txBody>
      </p:sp>
    </p:spTree>
    <p:extLst>
      <p:ext uri="{BB962C8B-B14F-4D97-AF65-F5344CB8AC3E}">
        <p14:creationId xmlns:p14="http://schemas.microsoft.com/office/powerpoint/2010/main" val="68321593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png"/><Relationship Id="rId5" Type="http://schemas.openxmlformats.org/officeDocument/2006/relationships/slideLayout" Target="../slideLayouts/slideLayout2.xml"/><Relationship Id="rId4" Type="http://schemas.openxmlformats.org/officeDocument/2006/relationships/tags" Target="../tags/tag6.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tags" Target="../tags/tag9.xml"/><Relationship Id="rId7" Type="http://schemas.openxmlformats.org/officeDocument/2006/relationships/slideLayout" Target="../slideLayouts/slideLayout4.xml"/><Relationship Id="rId12" Type="http://schemas.openxmlformats.org/officeDocument/2006/relationships/image" Target="../media/image1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9.png"/><Relationship Id="rId5" Type="http://schemas.openxmlformats.org/officeDocument/2006/relationships/tags" Target="../tags/tag11.xml"/><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tags" Target="../tags/tag10.xml"/><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image" Target="../media/image16.png"/><Relationship Id="rId18" Type="http://schemas.openxmlformats.org/officeDocument/2006/relationships/image" Target="../media/image11.png"/><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15.png"/><Relationship Id="rId17" Type="http://schemas.openxmlformats.org/officeDocument/2006/relationships/image" Target="../media/image10.png"/><Relationship Id="rId2" Type="http://schemas.openxmlformats.org/officeDocument/2006/relationships/tags" Target="../tags/tag14.xml"/><Relationship Id="rId16" Type="http://schemas.openxmlformats.org/officeDocument/2006/relationships/image" Target="../media/image9.png"/><Relationship Id="rId20" Type="http://schemas.openxmlformats.org/officeDocument/2006/relationships/image" Target="../media/image13.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14.png"/><Relationship Id="rId5" Type="http://schemas.openxmlformats.org/officeDocument/2006/relationships/tags" Target="../tags/tag17.xml"/><Relationship Id="rId15" Type="http://schemas.openxmlformats.org/officeDocument/2006/relationships/image" Target="../media/image8.png"/><Relationship Id="rId10" Type="http://schemas.openxmlformats.org/officeDocument/2006/relationships/slideLayout" Target="../slideLayouts/slideLayout4.xml"/><Relationship Id="rId19" Type="http://schemas.openxmlformats.org/officeDocument/2006/relationships/image" Target="../media/image12.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9C305-702F-1FDE-5694-8CFFAF1A738E}"/>
              </a:ext>
            </a:extLst>
          </p:cNvPr>
          <p:cNvSpPr>
            <a:spLocks noGrp="1"/>
          </p:cNvSpPr>
          <p:nvPr>
            <p:ph type="ctrTitle"/>
          </p:nvPr>
        </p:nvSpPr>
        <p:spPr/>
        <p:txBody>
          <a:bodyPr/>
          <a:lstStyle/>
          <a:p>
            <a:r>
              <a:rPr lang="en-US" dirty="0"/>
              <a:t>Kou Model and Delta Hedging</a:t>
            </a:r>
          </a:p>
        </p:txBody>
      </p:sp>
      <p:sp>
        <p:nvSpPr>
          <p:cNvPr id="3" name="Subtitle 2">
            <a:extLst>
              <a:ext uri="{FF2B5EF4-FFF2-40B4-BE49-F238E27FC236}">
                <a16:creationId xmlns:a16="http://schemas.microsoft.com/office/drawing/2014/main" id="{47C2503A-1F72-E0AE-28B5-F5A0D0D7C8AD}"/>
              </a:ext>
            </a:extLst>
          </p:cNvPr>
          <p:cNvSpPr>
            <a:spLocks noGrp="1"/>
          </p:cNvSpPr>
          <p:nvPr>
            <p:ph type="subTitle" idx="1"/>
          </p:nvPr>
        </p:nvSpPr>
        <p:spPr/>
        <p:txBody>
          <a:bodyPr/>
          <a:lstStyle/>
          <a:p>
            <a:r>
              <a:rPr lang="en-US" dirty="0"/>
              <a:t>By Gautam Hegde</a:t>
            </a:r>
          </a:p>
        </p:txBody>
      </p:sp>
    </p:spTree>
    <p:extLst>
      <p:ext uri="{BB962C8B-B14F-4D97-AF65-F5344CB8AC3E}">
        <p14:creationId xmlns:p14="http://schemas.microsoft.com/office/powerpoint/2010/main" val="3303197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0D0B-DF8A-D598-B16F-14FA7CE14AAE}"/>
              </a:ext>
            </a:extLst>
          </p:cNvPr>
          <p:cNvSpPr>
            <a:spLocks noGrp="1"/>
          </p:cNvSpPr>
          <p:nvPr>
            <p:ph type="title"/>
          </p:nvPr>
        </p:nvSpPr>
        <p:spPr/>
        <p:txBody>
          <a:bodyPr/>
          <a:lstStyle/>
          <a:p>
            <a:r>
              <a:rPr lang="en-US" dirty="0"/>
              <a:t>Project Overview</a:t>
            </a:r>
          </a:p>
        </p:txBody>
      </p:sp>
      <p:sp>
        <p:nvSpPr>
          <p:cNvPr id="3" name="Content Placeholder 2">
            <a:extLst>
              <a:ext uri="{FF2B5EF4-FFF2-40B4-BE49-F238E27FC236}">
                <a16:creationId xmlns:a16="http://schemas.microsoft.com/office/drawing/2014/main" id="{7165C4D1-4236-253F-6F71-CEE17625B7BF}"/>
              </a:ext>
            </a:extLst>
          </p:cNvPr>
          <p:cNvSpPr>
            <a:spLocks noGrp="1"/>
          </p:cNvSpPr>
          <p:nvPr>
            <p:ph idx="1"/>
          </p:nvPr>
        </p:nvSpPr>
        <p:spPr/>
        <p:txBody>
          <a:bodyPr>
            <a:normAutofit/>
          </a:bodyPr>
          <a:lstStyle/>
          <a:p>
            <a:r>
              <a:rPr lang="en-US" dirty="0"/>
              <a:t>This project implements a pricing and hedging framework based on the Kou Model.</a:t>
            </a:r>
          </a:p>
          <a:p>
            <a:endParaRPr lang="en-US" dirty="0"/>
          </a:p>
          <a:p>
            <a:r>
              <a:rPr lang="en-US" dirty="0"/>
              <a:t>The goal is to assess whether the idea of “Delta-Hedging” works in the context of the Kou Model. </a:t>
            </a:r>
          </a:p>
          <a:p>
            <a:endParaRPr lang="en-US" dirty="0"/>
          </a:p>
          <a:p>
            <a:r>
              <a:rPr lang="en-US" dirty="0"/>
              <a:t>The motivation behind this project is to study a model that captures the real-world market better than the Black-Scholes or Merton Model, and evaluate the effectiveness of standard hedging techniques. </a:t>
            </a:r>
          </a:p>
        </p:txBody>
      </p:sp>
    </p:spTree>
    <p:extLst>
      <p:ext uri="{BB962C8B-B14F-4D97-AF65-F5344CB8AC3E}">
        <p14:creationId xmlns:p14="http://schemas.microsoft.com/office/powerpoint/2010/main" val="259624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179D0-9559-A69F-9D86-0E4D945A4FE0}"/>
              </a:ext>
            </a:extLst>
          </p:cNvPr>
          <p:cNvSpPr>
            <a:spLocks noGrp="1"/>
          </p:cNvSpPr>
          <p:nvPr>
            <p:ph type="title"/>
          </p:nvPr>
        </p:nvSpPr>
        <p:spPr/>
        <p:txBody>
          <a:bodyPr/>
          <a:lstStyle/>
          <a:p>
            <a:r>
              <a:rPr lang="en-US" dirty="0"/>
              <a:t>What is the Kou Model</a:t>
            </a:r>
          </a:p>
        </p:txBody>
      </p:sp>
      <p:sp>
        <p:nvSpPr>
          <p:cNvPr id="3" name="Content Placeholder 2">
            <a:extLst>
              <a:ext uri="{FF2B5EF4-FFF2-40B4-BE49-F238E27FC236}">
                <a16:creationId xmlns:a16="http://schemas.microsoft.com/office/drawing/2014/main" id="{3E99E436-C5FE-6E24-4D64-C3C36FD17F1F}"/>
              </a:ext>
            </a:extLst>
          </p:cNvPr>
          <p:cNvSpPr>
            <a:spLocks noGrp="1"/>
          </p:cNvSpPr>
          <p:nvPr>
            <p:ph idx="1"/>
          </p:nvPr>
        </p:nvSpPr>
        <p:spPr/>
        <p:txBody>
          <a:bodyPr/>
          <a:lstStyle/>
          <a:p>
            <a:r>
              <a:rPr lang="en-US" dirty="0"/>
              <a:t>The Kou model generalizes the Black-Scholes model to allow for sudden jumps in stock price, similar to the Merton Model. </a:t>
            </a:r>
          </a:p>
          <a:p>
            <a:endParaRPr lang="en-US" dirty="0"/>
          </a:p>
          <a:p>
            <a:r>
              <a:rPr lang="en-US" dirty="0"/>
              <a:t>Where it differs from the Merton Model, is that the jumps are drawn from an asymmetric exponential distribution, as opposed to a Gaussian Distribution. </a:t>
            </a:r>
          </a:p>
        </p:txBody>
      </p:sp>
      <p:pic>
        <p:nvPicPr>
          <p:cNvPr id="5" name="Picture 4" descr="\documentclass{article}&#10;\usepackage{amsmath,physics,xcolor}&#10;\pagestyle{empty}&#10;\begin{document}&#10;&#10;&#10;$$&#10;X(t)=\left(r-\frac{\sigma^2}{2}-\lambda \kappa\right) t+\sigma W_t+\sum_{i=1}^{N(t)} Y_i&#10;$$&#10;&#10;\end{document}" title="IguanaTex Picture Display">
            <a:extLst>
              <a:ext uri="{FF2B5EF4-FFF2-40B4-BE49-F238E27FC236}">
                <a16:creationId xmlns:a16="http://schemas.microsoft.com/office/drawing/2014/main" id="{09C977AF-5CA0-75C6-8FD3-072B68C7216C}"/>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164280" y="5126681"/>
            <a:ext cx="5376000" cy="925257"/>
          </a:xfrm>
          <a:prstGeom prst="rect">
            <a:avLst/>
          </a:prstGeom>
        </p:spPr>
      </p:pic>
      <p:pic>
        <p:nvPicPr>
          <p:cNvPr id="11" name="Picture 10" descr="\documentclass{article}&#10;\usepackage{amsmath,physics,xcolor}&#10;\pagestyle{empty}&#10;\begin{document}&#10;&#10;&#10;$$&#10;X(t) \equiv \log (\frac{S_t}{S_0})&#10;$$&#10;&#10;\end{document}" title="IguanaTex Picture Display">
            <a:extLst>
              <a:ext uri="{FF2B5EF4-FFF2-40B4-BE49-F238E27FC236}">
                <a16:creationId xmlns:a16="http://schemas.microsoft.com/office/drawing/2014/main" id="{42C5CA76-B5F3-652E-09BE-CB594CBD2E55}"/>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1164280" y="6041363"/>
            <a:ext cx="2188800" cy="729599"/>
          </a:xfrm>
          <a:prstGeom prst="rect">
            <a:avLst/>
          </a:prstGeom>
        </p:spPr>
      </p:pic>
    </p:spTree>
    <p:extLst>
      <p:ext uri="{BB962C8B-B14F-4D97-AF65-F5344CB8AC3E}">
        <p14:creationId xmlns:p14="http://schemas.microsoft.com/office/powerpoint/2010/main" val="2005079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06D09-03E5-FF9E-006E-6A9558818765}"/>
              </a:ext>
            </a:extLst>
          </p:cNvPr>
          <p:cNvSpPr>
            <a:spLocks noGrp="1"/>
          </p:cNvSpPr>
          <p:nvPr>
            <p:ph type="title"/>
          </p:nvPr>
        </p:nvSpPr>
        <p:spPr/>
        <p:txBody>
          <a:bodyPr/>
          <a:lstStyle/>
          <a:p>
            <a:r>
              <a:rPr lang="en-US" dirty="0"/>
              <a:t>Kou Model</a:t>
            </a:r>
          </a:p>
        </p:txBody>
      </p:sp>
      <p:pic>
        <p:nvPicPr>
          <p:cNvPr id="4" name="Picture 3" descr="\documentclass{article}&#10;\usepackage{amsmath,physics,xcolor}&#10;\pagestyle{empty}&#10;\begin{document}&#10;&#10;&#10;$$&#10;X(t)=\left(r-\frac{\sigma^2}{2}-\lambda \kappa\right) t+\sigma W_t+\sum_{i=1}^{N(t)} Y_i&#10;$$&#10;&#10;\end{document}" title="IguanaTex Picture Display">
            <a:extLst>
              <a:ext uri="{FF2B5EF4-FFF2-40B4-BE49-F238E27FC236}">
                <a16:creationId xmlns:a16="http://schemas.microsoft.com/office/drawing/2014/main" id="{3DAA2CB6-820D-4565-8CB7-C09DF702C2E1}"/>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838200" y="2177535"/>
            <a:ext cx="5376000" cy="925257"/>
          </a:xfrm>
          <a:prstGeom prst="rect">
            <a:avLst/>
          </a:prstGeom>
        </p:spPr>
      </p:pic>
      <p:sp>
        <p:nvSpPr>
          <p:cNvPr id="7" name="Arrow: Down 6">
            <a:extLst>
              <a:ext uri="{FF2B5EF4-FFF2-40B4-BE49-F238E27FC236}">
                <a16:creationId xmlns:a16="http://schemas.microsoft.com/office/drawing/2014/main" id="{F3D9ED46-6E83-C890-BC58-CEBEB87B22AE}"/>
              </a:ext>
            </a:extLst>
          </p:cNvPr>
          <p:cNvSpPr/>
          <p:nvPr/>
        </p:nvSpPr>
        <p:spPr>
          <a:xfrm>
            <a:off x="2578443" y="3352800"/>
            <a:ext cx="337752" cy="925257"/>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documentclass{article}&#10;\usepackage{amsmath,physics,xcolor}&#10;\pagestyle{empty}&#10;\begin{document}&#10;&#10;&#10;Drift Term&#10;&#10;\end{document}" title="IguanaTex Picture Display">
            <a:extLst>
              <a:ext uri="{FF2B5EF4-FFF2-40B4-BE49-F238E27FC236}">
                <a16:creationId xmlns:a16="http://schemas.microsoft.com/office/drawing/2014/main" id="{657DE89C-3A46-2342-D201-4496FDDF2AF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2030519" y="4624173"/>
            <a:ext cx="1433600" cy="217600"/>
          </a:xfrm>
          <a:prstGeom prst="rect">
            <a:avLst/>
          </a:prstGeom>
        </p:spPr>
      </p:pic>
      <p:sp>
        <p:nvSpPr>
          <p:cNvPr id="10" name="Arrow: Down 9">
            <a:extLst>
              <a:ext uri="{FF2B5EF4-FFF2-40B4-BE49-F238E27FC236}">
                <a16:creationId xmlns:a16="http://schemas.microsoft.com/office/drawing/2014/main" id="{F417539E-E604-88A8-50BD-D87D11357CE1}"/>
              </a:ext>
            </a:extLst>
          </p:cNvPr>
          <p:cNvSpPr/>
          <p:nvPr/>
        </p:nvSpPr>
        <p:spPr>
          <a:xfrm>
            <a:off x="4666734" y="3031524"/>
            <a:ext cx="337752" cy="1294587"/>
          </a:xfrm>
          <a:prstGeom prst="down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documentclass{article}&#10;\usepackage{amsmath,physics,xcolor}&#10;\pagestyle{empty}&#10;\begin{document}&#10;&#10;&#10;Brownian Term&#10;&#10;\end{document}" title="IguanaTex Picture Display">
            <a:extLst>
              <a:ext uri="{FF2B5EF4-FFF2-40B4-BE49-F238E27FC236}">
                <a16:creationId xmlns:a16="http://schemas.microsoft.com/office/drawing/2014/main" id="{1871F1C9-461D-E2A2-7437-00A2DCF89B01}"/>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157057" y="4631487"/>
            <a:ext cx="2057143" cy="210286"/>
          </a:xfrm>
          <a:prstGeom prst="rect">
            <a:avLst/>
          </a:prstGeom>
        </p:spPr>
      </p:pic>
      <p:sp>
        <p:nvSpPr>
          <p:cNvPr id="13" name="Arrow: Right 12">
            <a:extLst>
              <a:ext uri="{FF2B5EF4-FFF2-40B4-BE49-F238E27FC236}">
                <a16:creationId xmlns:a16="http://schemas.microsoft.com/office/drawing/2014/main" id="{82B6346E-3FF6-CB2A-BDF5-135D32702A62}"/>
              </a:ext>
            </a:extLst>
          </p:cNvPr>
          <p:cNvSpPr/>
          <p:nvPr/>
        </p:nvSpPr>
        <p:spPr>
          <a:xfrm>
            <a:off x="6458465" y="2487827"/>
            <a:ext cx="930876" cy="271848"/>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documentclass{article}&#10;\usepackage{amsmath,physics,xcolor}&#10;\pagestyle{empty}&#10;\begin{document}&#10;&#10;&#10;Jump Terms&#10;&#10;\end{document}" title="IguanaTex Picture Display">
            <a:extLst>
              <a:ext uri="{FF2B5EF4-FFF2-40B4-BE49-F238E27FC236}">
                <a16:creationId xmlns:a16="http://schemas.microsoft.com/office/drawing/2014/main" id="{2AEF9C93-E15D-4CBB-7AAC-C3EC4E66E285}"/>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7621357" y="2491179"/>
            <a:ext cx="1647543" cy="265143"/>
          </a:xfrm>
          <a:prstGeom prst="rect">
            <a:avLst/>
          </a:prstGeom>
        </p:spPr>
      </p:pic>
    </p:spTree>
    <p:extLst>
      <p:ext uri="{BB962C8B-B14F-4D97-AF65-F5344CB8AC3E}">
        <p14:creationId xmlns:p14="http://schemas.microsoft.com/office/powerpoint/2010/main" val="1564499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655DA-B635-4DA6-1B8A-0D0AF69F035E}"/>
              </a:ext>
            </a:extLst>
          </p:cNvPr>
          <p:cNvSpPr>
            <a:spLocks noGrp="1"/>
          </p:cNvSpPr>
          <p:nvPr>
            <p:ph type="title"/>
          </p:nvPr>
        </p:nvSpPr>
        <p:spPr/>
        <p:txBody>
          <a:bodyPr/>
          <a:lstStyle/>
          <a:p>
            <a:r>
              <a:rPr lang="en-US" dirty="0"/>
              <a:t>Jump Terms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68B1B3D-755E-354D-E734-E316847B5F70}"/>
                  </a:ext>
                </a:extLst>
              </p:cNvPr>
              <p:cNvSpPr>
                <a:spLocks noGrp="1"/>
              </p:cNvSpPr>
              <p:nvPr>
                <p:ph sz="half" idx="1"/>
              </p:nvPr>
            </p:nvSpPr>
            <p:spPr/>
            <p:txBody>
              <a:bodyPr/>
              <a:lstStyle/>
              <a:p>
                <a:r>
                  <a:rPr lang="en-US" dirty="0"/>
                  <a:t>The number of jumps </a:t>
                </a:r>
                <a14:m>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b="0" dirty="0"/>
                  <a:t> is drawn from a Poisson Distribution characterized by the mean number of jumps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𝑡</m:t>
                    </m:r>
                  </m:oMath>
                </a14:m>
                <a:r>
                  <a:rPr lang="en-US" b="0" dirty="0"/>
                  <a:t>. </a:t>
                </a:r>
              </a:p>
              <a:p>
                <a:endParaRPr lang="en-US" dirty="0"/>
              </a:p>
              <a:p>
                <a:r>
                  <a:rPr lang="en-US" b="0" dirty="0"/>
                  <a:t>Each jump is an </a:t>
                </a:r>
                <a:r>
                  <a:rPr lang="en-US" b="0" dirty="0" err="1"/>
                  <a:t>i.i.d</a:t>
                </a:r>
                <a:r>
                  <a:rPr lang="en-US" b="0" dirty="0"/>
                  <a:t> variable drawn from an asymmetric exponential distribution</a:t>
                </a:r>
              </a:p>
              <a:p>
                <a:endParaRPr lang="en-US" dirty="0"/>
              </a:p>
            </p:txBody>
          </p:sp>
        </mc:Choice>
        <mc:Fallback>
          <p:sp>
            <p:nvSpPr>
              <p:cNvPr id="3" name="Content Placeholder 2">
                <a:extLst>
                  <a:ext uri="{FF2B5EF4-FFF2-40B4-BE49-F238E27FC236}">
                    <a16:creationId xmlns:a16="http://schemas.microsoft.com/office/drawing/2014/main" id="{868B1B3D-755E-354D-E734-E316847B5F70}"/>
                  </a:ext>
                </a:extLst>
              </p:cNvPr>
              <p:cNvSpPr>
                <a:spLocks noGrp="1" noRot="1" noChangeAspect="1" noMove="1" noResize="1" noEditPoints="1" noAdjustHandles="1" noChangeArrowheads="1" noChangeShapeType="1" noTextEdit="1"/>
              </p:cNvSpPr>
              <p:nvPr>
                <p:ph sz="half" idx="1"/>
              </p:nvPr>
            </p:nvSpPr>
            <p:spPr>
              <a:blipFill>
                <a:blip r:embed="rId8"/>
                <a:stretch>
                  <a:fillRect l="-292" t="-942" r="-2770"/>
                </a:stretch>
              </a:blipFill>
            </p:spPr>
            <p:txBody>
              <a:bodyPr/>
              <a:lstStyle/>
              <a:p>
                <a:r>
                  <a:rPr lang="en-US">
                    <a:noFill/>
                  </a:rPr>
                  <a:t> </a:t>
                </a:r>
              </a:p>
            </p:txBody>
          </p:sp>
        </mc:Fallback>
      </mc:AlternateContent>
      <p:pic>
        <p:nvPicPr>
          <p:cNvPr id="10" name="Content Placeholder 9">
            <a:extLst>
              <a:ext uri="{FF2B5EF4-FFF2-40B4-BE49-F238E27FC236}">
                <a16:creationId xmlns:a16="http://schemas.microsoft.com/office/drawing/2014/main" id="{147EC1CD-2F00-448A-FA40-4F536BC7F822}"/>
              </a:ext>
            </a:extLst>
          </p:cNvPr>
          <p:cNvPicPr>
            <a:picLocks noGrp="1" noChangeAspect="1"/>
          </p:cNvPicPr>
          <p:nvPr>
            <p:ph sz="half" idx="2"/>
          </p:nvPr>
        </p:nvPicPr>
        <p:blipFill>
          <a:blip r:embed="rId9">
            <a:extLst>
              <a:ext uri="{28A0092B-C50C-407E-A947-70E740481C1C}">
                <a14:useLocalDpi xmlns:a14="http://schemas.microsoft.com/office/drawing/2010/main" val="0"/>
              </a:ext>
            </a:extLst>
          </a:blip>
          <a:stretch>
            <a:fillRect/>
          </a:stretch>
        </p:blipFill>
        <p:spPr>
          <a:xfrm>
            <a:off x="5140616" y="2160588"/>
            <a:ext cx="4082467" cy="3881437"/>
          </a:xfrm>
          <a:prstGeom prst="rect">
            <a:avLst/>
          </a:prstGeom>
        </p:spPr>
      </p:pic>
      <p:pic>
        <p:nvPicPr>
          <p:cNvPr id="49" name="Picture 48" descr="\documentclass{article}&#10;\usepackage{amsmath,physics,xcolor}&#10;\pagestyle{empty}&#10;\begin{document}&#10;Probability $p$ &#10;&#10;\end{document}" title="IguanaTex Picture Display">
            <a:extLst>
              <a:ext uri="{FF2B5EF4-FFF2-40B4-BE49-F238E27FC236}">
                <a16:creationId xmlns:a16="http://schemas.microsoft.com/office/drawing/2014/main" id="{DD72FC8E-847B-D1F6-4138-4B2750EE5A5E}"/>
              </a:ext>
            </a:extLst>
          </p:cNvPr>
          <p:cNvPicPr>
            <a:picLocks noChangeAspect="1"/>
          </p:cNvPicPr>
          <p:nvPr>
            <p:custDataLst>
              <p:tags r:id="rId1"/>
            </p:custDataLst>
          </p:nvPr>
        </p:nvPicPr>
        <p:blipFill>
          <a:blip r:embed="rId10">
            <a:extLst>
              <a:ext uri="{28A0092B-C50C-407E-A947-70E740481C1C}">
                <a14:useLocalDpi xmlns:a14="http://schemas.microsoft.com/office/drawing/2010/main" val="0"/>
              </a:ext>
            </a:extLst>
          </a:blip>
          <a:stretch>
            <a:fillRect/>
          </a:stretch>
        </p:blipFill>
        <p:spPr>
          <a:xfrm>
            <a:off x="7671483" y="2260837"/>
            <a:ext cx="1154438" cy="181638"/>
          </a:xfrm>
          <a:prstGeom prst="rect">
            <a:avLst/>
          </a:prstGeom>
        </p:spPr>
      </p:pic>
      <p:pic>
        <p:nvPicPr>
          <p:cNvPr id="47" name="Picture 46" descr="\documentclass{article}&#10;\usepackage{amsmath,physics,xcolor}&#10;\pagestyle{empty}&#10;\begin{document}&#10;Probability $1-p$ &#10;&#10;\end{document}" title="IguanaTex Picture Display">
            <a:extLst>
              <a:ext uri="{FF2B5EF4-FFF2-40B4-BE49-F238E27FC236}">
                <a16:creationId xmlns:a16="http://schemas.microsoft.com/office/drawing/2014/main" id="{39665265-E153-42F3-C517-D918A5BF10A7}"/>
              </a:ext>
            </a:extLst>
          </p:cNvPr>
          <p:cNvPicPr>
            <a:picLocks noChangeAspect="1"/>
          </p:cNvPicPr>
          <p:nvPr>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5879156" y="2260837"/>
            <a:ext cx="1503086" cy="181638"/>
          </a:xfrm>
          <a:prstGeom prst="rect">
            <a:avLst/>
          </a:prstGeom>
        </p:spPr>
      </p:pic>
      <p:pic>
        <p:nvPicPr>
          <p:cNvPr id="45" name="Picture 44" descr="\documentclass{article}&#10;\usepackage{amsmath,physics,xcolor}&#10;\pagestyle{empty}&#10;\begin{document}&#10;&#10;&#10;$$&#10;Y&gt;0&#10;$$&#10;&#10;\end{document}" title="IguanaTex Picture Display">
            <a:extLst>
              <a:ext uri="{FF2B5EF4-FFF2-40B4-BE49-F238E27FC236}">
                <a16:creationId xmlns:a16="http://schemas.microsoft.com/office/drawing/2014/main" id="{8C7F1EDD-01DA-345C-5506-68E7D4723981}"/>
              </a:ext>
            </a:extLst>
          </p:cNvPr>
          <p:cNvPicPr>
            <a:picLocks noChangeAspect="1"/>
          </p:cNvPicPr>
          <p:nvPr>
            <p:custDataLst>
              <p:tags r:id="rId3"/>
            </p:custDataLst>
          </p:nvPr>
        </p:nvPicPr>
        <p:blipFill>
          <a:blip r:embed="rId12">
            <a:extLst>
              <a:ext uri="{28A0092B-C50C-407E-A947-70E740481C1C}">
                <a14:useLocalDpi xmlns:a14="http://schemas.microsoft.com/office/drawing/2010/main" val="0"/>
              </a:ext>
            </a:extLst>
          </a:blip>
          <a:stretch>
            <a:fillRect/>
          </a:stretch>
        </p:blipFill>
        <p:spPr>
          <a:xfrm>
            <a:off x="8136163" y="3264428"/>
            <a:ext cx="584229" cy="164572"/>
          </a:xfrm>
          <a:prstGeom prst="rect">
            <a:avLst/>
          </a:prstGeom>
        </p:spPr>
      </p:pic>
      <p:pic>
        <p:nvPicPr>
          <p:cNvPr id="43" name="Picture 42" descr="\documentclass{article}&#10;\usepackage{amsmath,physics,xcolor}&#10;\pagestyle{empty}&#10;\begin{document}&#10;&#10;&#10;$$&#10;Y&lt;0&#10;$$&#10;&#10;\end{document}" title="IguanaTex Picture Display">
            <a:extLst>
              <a:ext uri="{FF2B5EF4-FFF2-40B4-BE49-F238E27FC236}">
                <a16:creationId xmlns:a16="http://schemas.microsoft.com/office/drawing/2014/main" id="{F1C8FDD0-F583-BCC8-5C90-179044D132BD}"/>
              </a:ext>
            </a:extLst>
          </p:cNvPr>
          <p:cNvPicPr>
            <a:picLocks noChangeAspect="1"/>
          </p:cNvPicPr>
          <p:nvPr>
            <p:custDataLst>
              <p:tags r:id="rId4"/>
            </p:custDataLst>
          </p:nvPr>
        </p:nvPicPr>
        <p:blipFill>
          <a:blip r:embed="rId13">
            <a:extLst>
              <a:ext uri="{28A0092B-C50C-407E-A947-70E740481C1C}">
                <a14:useLocalDpi xmlns:a14="http://schemas.microsoft.com/office/drawing/2010/main" val="0"/>
              </a:ext>
            </a:extLst>
          </a:blip>
          <a:stretch>
            <a:fillRect/>
          </a:stretch>
        </p:blipFill>
        <p:spPr>
          <a:xfrm>
            <a:off x="6096000" y="3264428"/>
            <a:ext cx="584229" cy="164572"/>
          </a:xfrm>
          <a:prstGeom prst="rect">
            <a:avLst/>
          </a:prstGeom>
        </p:spPr>
      </p:pic>
      <p:pic>
        <p:nvPicPr>
          <p:cNvPr id="39" name="Picture 38" descr="\documentclass{article}&#10;\usepackage{amsmath,physics,xcolor}&#10;\pagestyle{empty}&#10;\begin{document}&#10;&#10;&#10;$$&#10;\rho(Y) = e^{\eta_2Y}&#10;$$&#10;&#10;\end{document}" title="IguanaTex Picture Display">
            <a:extLst>
              <a:ext uri="{FF2B5EF4-FFF2-40B4-BE49-F238E27FC236}">
                <a16:creationId xmlns:a16="http://schemas.microsoft.com/office/drawing/2014/main" id="{2E4372D4-216D-D86B-8A8B-C3182250CDDD}"/>
              </a:ext>
            </a:extLst>
          </p:cNvPr>
          <p:cNvPicPr>
            <a:picLocks noChangeAspect="1"/>
          </p:cNvPicPr>
          <p:nvPr>
            <p:custDataLst>
              <p:tags r:id="rId5"/>
            </p:custDataLst>
          </p:nvPr>
        </p:nvPicPr>
        <p:blipFill>
          <a:blip r:embed="rId14">
            <a:extLst>
              <a:ext uri="{28A0092B-C50C-407E-A947-70E740481C1C}">
                <a14:useLocalDpi xmlns:a14="http://schemas.microsoft.com/office/drawing/2010/main" val="0"/>
              </a:ext>
            </a:extLst>
          </a:blip>
          <a:stretch>
            <a:fillRect/>
          </a:stretch>
        </p:blipFill>
        <p:spPr>
          <a:xfrm>
            <a:off x="5977094" y="3804495"/>
            <a:ext cx="1067886" cy="231619"/>
          </a:xfrm>
          <a:prstGeom prst="rect">
            <a:avLst/>
          </a:prstGeom>
        </p:spPr>
      </p:pic>
      <p:pic>
        <p:nvPicPr>
          <p:cNvPr id="41" name="Picture 40" descr="\documentclass{article}&#10;\usepackage{amsmath,physics,xcolor}&#10;\pagestyle{empty}&#10;\begin{document}&#10;&#10;&#10;$$&#10;\rho(Y) = e^{-\eta_1Y}&#10;$$&#10;&#10;\end{document}" title="IguanaTex Picture Display">
            <a:extLst>
              <a:ext uri="{FF2B5EF4-FFF2-40B4-BE49-F238E27FC236}">
                <a16:creationId xmlns:a16="http://schemas.microsoft.com/office/drawing/2014/main" id="{51BBE29C-48A7-6F75-0E54-F02404FF3875}"/>
              </a:ext>
            </a:extLst>
          </p:cNvPr>
          <p:cNvPicPr>
            <a:picLocks noChangeAspect="1"/>
          </p:cNvPicPr>
          <p:nvPr>
            <p:custDataLst>
              <p:tags r:id="rId6"/>
            </p:custDataLst>
          </p:nvPr>
        </p:nvPicPr>
        <p:blipFill>
          <a:blip r:embed="rId15">
            <a:extLst>
              <a:ext uri="{28A0092B-C50C-407E-A947-70E740481C1C}">
                <a14:useLocalDpi xmlns:a14="http://schemas.microsoft.com/office/drawing/2010/main" val="0"/>
              </a:ext>
            </a:extLst>
          </a:blip>
          <a:stretch>
            <a:fillRect/>
          </a:stretch>
        </p:blipFill>
        <p:spPr>
          <a:xfrm>
            <a:off x="7881458" y="3804495"/>
            <a:ext cx="1194667" cy="231619"/>
          </a:xfrm>
          <a:prstGeom prst="rect">
            <a:avLst/>
          </a:prstGeom>
        </p:spPr>
      </p:pic>
    </p:spTree>
    <p:extLst>
      <p:ext uri="{BB962C8B-B14F-4D97-AF65-F5344CB8AC3E}">
        <p14:creationId xmlns:p14="http://schemas.microsoft.com/office/powerpoint/2010/main" val="91887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43D23-1089-AE0C-48E4-8A91E1CE0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817E3-E9C0-7F86-F75C-A6F52AA3C4CD}"/>
              </a:ext>
            </a:extLst>
          </p:cNvPr>
          <p:cNvSpPr>
            <a:spLocks noGrp="1"/>
          </p:cNvSpPr>
          <p:nvPr>
            <p:ph type="title"/>
          </p:nvPr>
        </p:nvSpPr>
        <p:spPr/>
        <p:txBody>
          <a:bodyPr/>
          <a:lstStyle/>
          <a:p>
            <a:r>
              <a:rPr lang="en-US" dirty="0"/>
              <a:t>Jump Terms </a:t>
            </a:r>
          </a:p>
        </p:txBody>
      </p:sp>
      <p:pic>
        <p:nvPicPr>
          <p:cNvPr id="12" name="Picture 11" descr="\documentclass{article}&#10;\usepackage{amsmath,physics,xcolor}&#10;\pagestyle{empty}&#10;\begin{document}&#10;&#10;&#10;$$&#10;Y_i = \begin{cases}&#10;Y_+ (\text{ upward jump}) ; \text{Probability p}\\&#10;Y_- (\text{ downward jump}) ; \text{Probability 1-p}\\&#10;\end{cases}&#10;$$&#10;&#10;\end{document}" title="IguanaTex Picture Display">
            <a:extLst>
              <a:ext uri="{FF2B5EF4-FFF2-40B4-BE49-F238E27FC236}">
                <a16:creationId xmlns:a16="http://schemas.microsoft.com/office/drawing/2014/main" id="{99FE2730-8611-109A-033E-C187AFCBF3DF}"/>
              </a:ext>
            </a:extLst>
          </p:cNvPr>
          <p:cNvPicPr>
            <a:picLocks noChangeAspect="1"/>
          </p:cNvPicPr>
          <p:nvPr>
            <p:custDataLst>
              <p:tags r:id="rId1"/>
            </p:custDataLst>
          </p:nvPr>
        </p:nvPicPr>
        <p:blipFill>
          <a:blip r:embed="rId11">
            <a:extLst>
              <a:ext uri="{28A0092B-C50C-407E-A947-70E740481C1C}">
                <a14:useLocalDpi xmlns:a14="http://schemas.microsoft.com/office/drawing/2010/main" val="0"/>
              </a:ext>
            </a:extLst>
          </a:blip>
          <a:stretch>
            <a:fillRect/>
          </a:stretch>
        </p:blipFill>
        <p:spPr>
          <a:xfrm>
            <a:off x="573140" y="2292841"/>
            <a:ext cx="4422856" cy="682971"/>
          </a:xfrm>
          <a:prstGeom prst="rect">
            <a:avLst/>
          </a:prstGeom>
        </p:spPr>
      </p:pic>
      <p:pic>
        <p:nvPicPr>
          <p:cNvPr id="18" name="Picture 17" descr="\documentclass{article}&#10;\usepackage{amsmath,physics,xcolor}&#10;\pagestyle{empty}&#10;\begin{document}&#10;&#10;&#10;$$&#10;\rho(Y_{-}) = e^{\eta_2Y}&#10;$$&#10;&#10;\end{document}" title="IguanaTex Picture Display">
            <a:extLst>
              <a:ext uri="{FF2B5EF4-FFF2-40B4-BE49-F238E27FC236}">
                <a16:creationId xmlns:a16="http://schemas.microsoft.com/office/drawing/2014/main" id="{1357DD2B-6035-C7AC-5A6B-65E429E928BC}"/>
              </a:ext>
            </a:extLst>
          </p:cNvPr>
          <p:cNvPicPr>
            <a:picLocks noChangeAspect="1"/>
          </p:cNvPicPr>
          <p:nvPr>
            <p:custDataLst>
              <p:tags r:id="rId2"/>
            </p:custDataLst>
          </p:nvPr>
        </p:nvPicPr>
        <p:blipFill>
          <a:blip r:embed="rId12">
            <a:extLst>
              <a:ext uri="{28A0092B-C50C-407E-A947-70E740481C1C}">
                <a14:useLocalDpi xmlns:a14="http://schemas.microsoft.com/office/drawing/2010/main" val="0"/>
              </a:ext>
            </a:extLst>
          </a:blip>
          <a:stretch>
            <a:fillRect/>
          </a:stretch>
        </p:blipFill>
        <p:spPr>
          <a:xfrm>
            <a:off x="573140" y="3543924"/>
            <a:ext cx="1304228" cy="260571"/>
          </a:xfrm>
          <a:prstGeom prst="rect">
            <a:avLst/>
          </a:prstGeom>
        </p:spPr>
      </p:pic>
      <p:pic>
        <p:nvPicPr>
          <p:cNvPr id="20" name="Picture 19" descr="\documentclass{article}&#10;\usepackage{amsmath,physics,xcolor}&#10;\pagestyle{empty}&#10;\begin{document}&#10;&#10;&#10;$$&#10;\rho(Y_+) = e^{-\eta_1Y}&#10;$$&#10;&#10;\end{document}" title="IguanaTex Picture Display">
            <a:extLst>
              <a:ext uri="{FF2B5EF4-FFF2-40B4-BE49-F238E27FC236}">
                <a16:creationId xmlns:a16="http://schemas.microsoft.com/office/drawing/2014/main" id="{FFAAE5D6-784B-CAF2-FAAE-6B3053CBE6BB}"/>
              </a:ext>
            </a:extLst>
          </p:cNvPr>
          <p:cNvPicPr>
            <a:picLocks noChangeAspect="1"/>
          </p:cNvPicPr>
          <p:nvPr>
            <p:custDataLst>
              <p:tags r:id="rId3"/>
            </p:custDataLst>
          </p:nvPr>
        </p:nvPicPr>
        <p:blipFill>
          <a:blip r:embed="rId13">
            <a:extLst>
              <a:ext uri="{28A0092B-C50C-407E-A947-70E740481C1C}">
                <a14:useLocalDpi xmlns:a14="http://schemas.microsoft.com/office/drawing/2010/main" val="0"/>
              </a:ext>
            </a:extLst>
          </a:blip>
          <a:stretch>
            <a:fillRect/>
          </a:stretch>
        </p:blipFill>
        <p:spPr>
          <a:xfrm>
            <a:off x="573140" y="4166936"/>
            <a:ext cx="1444114" cy="260571"/>
          </a:xfrm>
          <a:prstGeom prst="rect">
            <a:avLst/>
          </a:prstGeom>
        </p:spPr>
      </p:pic>
      <p:pic>
        <p:nvPicPr>
          <p:cNvPr id="24" name="Content Placeholder 9">
            <a:extLst>
              <a:ext uri="{FF2B5EF4-FFF2-40B4-BE49-F238E27FC236}">
                <a16:creationId xmlns:a16="http://schemas.microsoft.com/office/drawing/2014/main" id="{28CFB794-ABD3-FC7E-7C05-735CA2BE6BD1}"/>
              </a:ext>
            </a:extLst>
          </p:cNvPr>
          <p:cNvPicPr>
            <a:picLocks noGrp="1" noChangeAspect="1"/>
          </p:cNvPicPr>
          <p:nvPr>
            <p:ph sz="half" idx="2"/>
          </p:nvPr>
        </p:nvPicPr>
        <p:blipFill>
          <a:blip r:embed="rId14">
            <a:extLst>
              <a:ext uri="{28A0092B-C50C-407E-A947-70E740481C1C}">
                <a14:useLocalDpi xmlns:a14="http://schemas.microsoft.com/office/drawing/2010/main" val="0"/>
              </a:ext>
            </a:extLst>
          </a:blip>
          <a:stretch>
            <a:fillRect/>
          </a:stretch>
        </p:blipFill>
        <p:spPr>
          <a:xfrm>
            <a:off x="5140616" y="2160588"/>
            <a:ext cx="4082467" cy="3881437"/>
          </a:xfrm>
          <a:prstGeom prst="rect">
            <a:avLst/>
          </a:prstGeom>
        </p:spPr>
      </p:pic>
      <p:pic>
        <p:nvPicPr>
          <p:cNvPr id="25" name="Picture 24" descr="\documentclass{article}&#10;\usepackage{amsmath,physics,xcolor}&#10;\pagestyle{empty}&#10;\begin{document}&#10;Probability $p$ &#10;&#10;\end{document}" title="IguanaTex Picture Display">
            <a:extLst>
              <a:ext uri="{FF2B5EF4-FFF2-40B4-BE49-F238E27FC236}">
                <a16:creationId xmlns:a16="http://schemas.microsoft.com/office/drawing/2014/main" id="{B4C46CDF-D94B-D66D-7C11-7E98C4E3FE86}"/>
              </a:ext>
            </a:extLst>
          </p:cNvPr>
          <p:cNvPicPr>
            <a:picLocks noChangeAspect="1"/>
          </p:cNvPicPr>
          <p:nvPr>
            <p:custDataLst>
              <p:tags r:id="rId4"/>
            </p:custDataLst>
          </p:nvPr>
        </p:nvPicPr>
        <p:blipFill>
          <a:blip r:embed="rId15">
            <a:extLst>
              <a:ext uri="{28A0092B-C50C-407E-A947-70E740481C1C}">
                <a14:useLocalDpi xmlns:a14="http://schemas.microsoft.com/office/drawing/2010/main" val="0"/>
              </a:ext>
            </a:extLst>
          </a:blip>
          <a:stretch>
            <a:fillRect/>
          </a:stretch>
        </p:blipFill>
        <p:spPr>
          <a:xfrm>
            <a:off x="7671483" y="2260837"/>
            <a:ext cx="1154438" cy="181638"/>
          </a:xfrm>
          <a:prstGeom prst="rect">
            <a:avLst/>
          </a:prstGeom>
        </p:spPr>
      </p:pic>
      <p:pic>
        <p:nvPicPr>
          <p:cNvPr id="26" name="Picture 25" descr="\documentclass{article}&#10;\usepackage{amsmath,physics,xcolor}&#10;\pagestyle{empty}&#10;\begin{document}&#10;Probability $1-p$ &#10;&#10;\end{document}" title="IguanaTex Picture Display">
            <a:extLst>
              <a:ext uri="{FF2B5EF4-FFF2-40B4-BE49-F238E27FC236}">
                <a16:creationId xmlns:a16="http://schemas.microsoft.com/office/drawing/2014/main" id="{93240A48-57BA-364B-84B6-7518FD929899}"/>
              </a:ext>
            </a:extLst>
          </p:cNvPr>
          <p:cNvPicPr>
            <a:picLocks noChangeAspect="1"/>
          </p:cNvPicPr>
          <p:nvPr>
            <p:custDataLst>
              <p:tags r:id="rId5"/>
            </p:custDataLst>
          </p:nvPr>
        </p:nvPicPr>
        <p:blipFill>
          <a:blip r:embed="rId16">
            <a:extLst>
              <a:ext uri="{28A0092B-C50C-407E-A947-70E740481C1C}">
                <a14:useLocalDpi xmlns:a14="http://schemas.microsoft.com/office/drawing/2010/main" val="0"/>
              </a:ext>
            </a:extLst>
          </a:blip>
          <a:stretch>
            <a:fillRect/>
          </a:stretch>
        </p:blipFill>
        <p:spPr>
          <a:xfrm>
            <a:off x="5879156" y="2260837"/>
            <a:ext cx="1503086" cy="181638"/>
          </a:xfrm>
          <a:prstGeom prst="rect">
            <a:avLst/>
          </a:prstGeom>
        </p:spPr>
      </p:pic>
      <p:pic>
        <p:nvPicPr>
          <p:cNvPr id="27" name="Picture 26" descr="\documentclass{article}&#10;\usepackage{amsmath,physics,xcolor}&#10;\pagestyle{empty}&#10;\begin{document}&#10;&#10;&#10;$$&#10;Y&gt;0&#10;$$&#10;&#10;\end{document}" title="IguanaTex Picture Display">
            <a:extLst>
              <a:ext uri="{FF2B5EF4-FFF2-40B4-BE49-F238E27FC236}">
                <a16:creationId xmlns:a16="http://schemas.microsoft.com/office/drawing/2014/main" id="{68ADAD18-5364-2F25-7768-BC9134E2D101}"/>
              </a:ext>
            </a:extLst>
          </p:cNvPr>
          <p:cNvPicPr>
            <a:picLocks noChangeAspect="1"/>
          </p:cNvPicPr>
          <p:nvPr>
            <p:custDataLst>
              <p:tags r:id="rId6"/>
            </p:custDataLst>
          </p:nvPr>
        </p:nvPicPr>
        <p:blipFill>
          <a:blip r:embed="rId17">
            <a:extLst>
              <a:ext uri="{28A0092B-C50C-407E-A947-70E740481C1C}">
                <a14:useLocalDpi xmlns:a14="http://schemas.microsoft.com/office/drawing/2010/main" val="0"/>
              </a:ext>
            </a:extLst>
          </a:blip>
          <a:stretch>
            <a:fillRect/>
          </a:stretch>
        </p:blipFill>
        <p:spPr>
          <a:xfrm>
            <a:off x="8136163" y="3264428"/>
            <a:ext cx="584229" cy="164572"/>
          </a:xfrm>
          <a:prstGeom prst="rect">
            <a:avLst/>
          </a:prstGeom>
        </p:spPr>
      </p:pic>
      <p:pic>
        <p:nvPicPr>
          <p:cNvPr id="28" name="Picture 27" descr="\documentclass{article}&#10;\usepackage{amsmath,physics,xcolor}&#10;\pagestyle{empty}&#10;\begin{document}&#10;&#10;&#10;$$&#10;Y&lt;0&#10;$$&#10;&#10;\end{document}" title="IguanaTex Picture Display">
            <a:extLst>
              <a:ext uri="{FF2B5EF4-FFF2-40B4-BE49-F238E27FC236}">
                <a16:creationId xmlns:a16="http://schemas.microsoft.com/office/drawing/2014/main" id="{9E88CE95-6258-3650-5D15-63DBDB8C0E15}"/>
              </a:ext>
            </a:extLst>
          </p:cNvPr>
          <p:cNvPicPr>
            <a:picLocks noChangeAspect="1"/>
          </p:cNvPicPr>
          <p:nvPr>
            <p:custDataLst>
              <p:tags r:id="rId7"/>
            </p:custDataLst>
          </p:nvPr>
        </p:nvPicPr>
        <p:blipFill>
          <a:blip r:embed="rId18">
            <a:extLst>
              <a:ext uri="{28A0092B-C50C-407E-A947-70E740481C1C}">
                <a14:useLocalDpi xmlns:a14="http://schemas.microsoft.com/office/drawing/2010/main" val="0"/>
              </a:ext>
            </a:extLst>
          </a:blip>
          <a:stretch>
            <a:fillRect/>
          </a:stretch>
        </p:blipFill>
        <p:spPr>
          <a:xfrm>
            <a:off x="6096000" y="3264428"/>
            <a:ext cx="584229" cy="164572"/>
          </a:xfrm>
          <a:prstGeom prst="rect">
            <a:avLst/>
          </a:prstGeom>
        </p:spPr>
      </p:pic>
      <p:pic>
        <p:nvPicPr>
          <p:cNvPr id="29" name="Picture 28" descr="\documentclass{article}&#10;\usepackage{amsmath,physics,xcolor}&#10;\pagestyle{empty}&#10;\begin{document}&#10;&#10;&#10;$$&#10;\rho(Y) = e^{\eta_2Y}&#10;$$&#10;&#10;\end{document}" title="IguanaTex Picture Display">
            <a:extLst>
              <a:ext uri="{FF2B5EF4-FFF2-40B4-BE49-F238E27FC236}">
                <a16:creationId xmlns:a16="http://schemas.microsoft.com/office/drawing/2014/main" id="{6D1B1F6B-B81E-5716-7EA5-92D47E35F058}"/>
              </a:ext>
            </a:extLst>
          </p:cNvPr>
          <p:cNvPicPr>
            <a:picLocks noChangeAspect="1"/>
          </p:cNvPicPr>
          <p:nvPr>
            <p:custDataLst>
              <p:tags r:id="rId8"/>
            </p:custDataLst>
          </p:nvPr>
        </p:nvPicPr>
        <p:blipFill>
          <a:blip r:embed="rId19">
            <a:extLst>
              <a:ext uri="{28A0092B-C50C-407E-A947-70E740481C1C}">
                <a14:useLocalDpi xmlns:a14="http://schemas.microsoft.com/office/drawing/2010/main" val="0"/>
              </a:ext>
            </a:extLst>
          </a:blip>
          <a:stretch>
            <a:fillRect/>
          </a:stretch>
        </p:blipFill>
        <p:spPr>
          <a:xfrm>
            <a:off x="5977094" y="3804495"/>
            <a:ext cx="1067886" cy="231619"/>
          </a:xfrm>
          <a:prstGeom prst="rect">
            <a:avLst/>
          </a:prstGeom>
        </p:spPr>
      </p:pic>
      <p:pic>
        <p:nvPicPr>
          <p:cNvPr id="31" name="Picture 30" descr="\documentclass{article}&#10;\usepackage{amsmath,physics,xcolor}&#10;\pagestyle{empty}&#10;\begin{document}&#10;&#10;&#10;$$&#10;\rho(Y) = e^{-\eta_1Y}&#10;$$&#10;&#10;\end{document}" title="IguanaTex Picture Display">
            <a:extLst>
              <a:ext uri="{FF2B5EF4-FFF2-40B4-BE49-F238E27FC236}">
                <a16:creationId xmlns:a16="http://schemas.microsoft.com/office/drawing/2014/main" id="{E467DF79-7146-38A7-10D5-8A1F92A347DC}"/>
              </a:ext>
            </a:extLst>
          </p:cNvPr>
          <p:cNvPicPr>
            <a:picLocks noChangeAspect="1"/>
          </p:cNvPicPr>
          <p:nvPr>
            <p:custDataLst>
              <p:tags r:id="rId9"/>
            </p:custDataLst>
          </p:nvPr>
        </p:nvPicPr>
        <p:blipFill>
          <a:blip r:embed="rId20">
            <a:extLst>
              <a:ext uri="{28A0092B-C50C-407E-A947-70E740481C1C}">
                <a14:useLocalDpi xmlns:a14="http://schemas.microsoft.com/office/drawing/2010/main" val="0"/>
              </a:ext>
            </a:extLst>
          </a:blip>
          <a:stretch>
            <a:fillRect/>
          </a:stretch>
        </p:blipFill>
        <p:spPr>
          <a:xfrm>
            <a:off x="7881457" y="3804495"/>
            <a:ext cx="1194667" cy="231619"/>
          </a:xfrm>
          <a:prstGeom prst="rect">
            <a:avLst/>
          </a:prstGeom>
        </p:spPr>
      </p:pic>
    </p:spTree>
    <p:extLst>
      <p:ext uri="{BB962C8B-B14F-4D97-AF65-F5344CB8AC3E}">
        <p14:creationId xmlns:p14="http://schemas.microsoft.com/office/powerpoint/2010/main" val="400292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97B1B-7DBB-B5D1-9011-40B72801E634}"/>
              </a:ext>
            </a:extLst>
          </p:cNvPr>
          <p:cNvSpPr>
            <a:spLocks noGrp="1"/>
          </p:cNvSpPr>
          <p:nvPr>
            <p:ph type="title"/>
          </p:nvPr>
        </p:nvSpPr>
        <p:spPr/>
        <p:txBody>
          <a:bodyPr/>
          <a:lstStyle/>
          <a:p>
            <a:r>
              <a:rPr lang="en-US" dirty="0"/>
              <a:t>Why the Kou-model instead of the Merton-model?</a:t>
            </a:r>
          </a:p>
        </p:txBody>
      </p:sp>
      <p:sp>
        <p:nvSpPr>
          <p:cNvPr id="5" name="Content Placeholder 4">
            <a:extLst>
              <a:ext uri="{FF2B5EF4-FFF2-40B4-BE49-F238E27FC236}">
                <a16:creationId xmlns:a16="http://schemas.microsoft.com/office/drawing/2014/main" id="{2342E973-3CA8-733D-4963-BF0D80CD168B}"/>
              </a:ext>
            </a:extLst>
          </p:cNvPr>
          <p:cNvSpPr>
            <a:spLocks noGrp="1"/>
          </p:cNvSpPr>
          <p:nvPr>
            <p:ph idx="1"/>
          </p:nvPr>
        </p:nvSpPr>
        <p:spPr/>
        <p:txBody>
          <a:bodyPr/>
          <a:lstStyle/>
          <a:p>
            <a:r>
              <a:rPr lang="en-US" dirty="0"/>
              <a:t>Humans don’t view good and bad news the same. Very often bad news leads to large downwards jump in stock value, and good news leads to relatively modest jumps. Hence, more extreme downward jumps are more likely. </a:t>
            </a:r>
          </a:p>
          <a:p>
            <a:endParaRPr lang="en-US" dirty="0"/>
          </a:p>
          <a:p>
            <a:r>
              <a:rPr lang="en-US" dirty="0"/>
              <a:t>Furthermore, the Kou-model’s choice of an exponential distribution allows for more extreme jumps than the Merton models normal distribution, matching real life stock data better, and providing a better fit to volatility smiles. </a:t>
            </a:r>
          </a:p>
        </p:txBody>
      </p:sp>
    </p:spTree>
    <p:extLst>
      <p:ext uri="{BB962C8B-B14F-4D97-AF65-F5344CB8AC3E}">
        <p14:creationId xmlns:p14="http://schemas.microsoft.com/office/powerpoint/2010/main" val="1495045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18B1-1AED-047C-D6B3-B8E2DC5BB50C}"/>
              </a:ext>
            </a:extLst>
          </p:cNvPr>
          <p:cNvSpPr>
            <a:spLocks noGrp="1"/>
          </p:cNvSpPr>
          <p:nvPr>
            <p:ph type="title"/>
          </p:nvPr>
        </p:nvSpPr>
        <p:spPr/>
        <p:txBody>
          <a:bodyPr/>
          <a:lstStyle/>
          <a:p>
            <a:r>
              <a:rPr lang="en-US" dirty="0"/>
              <a:t>Evaluating Call Option Prices : Carr-Madan Method</a:t>
            </a:r>
          </a:p>
        </p:txBody>
      </p:sp>
      <p:sp>
        <p:nvSpPr>
          <p:cNvPr id="3" name="Content Placeholder 2">
            <a:extLst>
              <a:ext uri="{FF2B5EF4-FFF2-40B4-BE49-F238E27FC236}">
                <a16:creationId xmlns:a16="http://schemas.microsoft.com/office/drawing/2014/main" id="{B6C8FBFC-41DC-8777-786D-893766846E06}"/>
              </a:ext>
            </a:extLst>
          </p:cNvPr>
          <p:cNvSpPr>
            <a:spLocks noGrp="1"/>
          </p:cNvSpPr>
          <p:nvPr>
            <p:ph idx="1"/>
          </p:nvPr>
        </p:nvSpPr>
        <p:spPr/>
        <p:txBody>
          <a:bodyPr>
            <a:normAutofit/>
          </a:bodyPr>
          <a:lstStyle/>
          <a:p>
            <a:r>
              <a:rPr lang="en-US" sz="1600" dirty="0"/>
              <a:t>Unlike the Merton-Model, the closed form solutions to the Kou-Model aren’t as simple to numerically evaluate, since the distribution of jumps is exponential not normal. </a:t>
            </a:r>
          </a:p>
          <a:p>
            <a:r>
              <a:rPr lang="en-US" sz="1600" dirty="0"/>
              <a:t>Hence, we use the Carr-Madan method</a:t>
            </a:r>
            <a:r>
              <a:rPr lang="en-US" sz="1600" baseline="30000" dirty="0"/>
              <a:t>1</a:t>
            </a:r>
            <a:r>
              <a:rPr lang="en-US" sz="1600" dirty="0"/>
              <a:t> which has the algorithm outlined below. The details behind this method is provided in the accompanying pdf titled “Project-Report”. </a:t>
            </a:r>
          </a:p>
          <a:p>
            <a:r>
              <a:rPr lang="en-US" sz="1600" dirty="0"/>
              <a:t>The Carr-Madan method involves an F.F.T and is hence a lightning-fast method to compute option prices for a wide array of strike prices and expiry times.</a:t>
            </a:r>
          </a:p>
        </p:txBody>
      </p:sp>
      <p:sp>
        <p:nvSpPr>
          <p:cNvPr id="4" name="Rectangle: Rounded Corners 3">
            <a:extLst>
              <a:ext uri="{FF2B5EF4-FFF2-40B4-BE49-F238E27FC236}">
                <a16:creationId xmlns:a16="http://schemas.microsoft.com/office/drawing/2014/main" id="{823F2E56-D04F-DBE7-0B8D-0D593FE96157}"/>
              </a:ext>
            </a:extLst>
          </p:cNvPr>
          <p:cNvSpPr/>
          <p:nvPr/>
        </p:nvSpPr>
        <p:spPr>
          <a:xfrm>
            <a:off x="296564" y="4258962"/>
            <a:ext cx="3542270" cy="1655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Analytically evaluate the Characteristic function (log -moment generating function) of the Kou Process</a:t>
            </a:r>
          </a:p>
        </p:txBody>
      </p:sp>
      <p:sp>
        <p:nvSpPr>
          <p:cNvPr id="5" name="Rectangle: Rounded Corners 4">
            <a:extLst>
              <a:ext uri="{FF2B5EF4-FFF2-40B4-BE49-F238E27FC236}">
                <a16:creationId xmlns:a16="http://schemas.microsoft.com/office/drawing/2014/main" id="{B6C17980-4AA9-5434-51B2-FDFAB85A7ECC}"/>
              </a:ext>
            </a:extLst>
          </p:cNvPr>
          <p:cNvSpPr/>
          <p:nvPr/>
        </p:nvSpPr>
        <p:spPr>
          <a:xfrm>
            <a:off x="4300153" y="4258962"/>
            <a:ext cx="3542270" cy="1655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Find the Carr-Madan function in terms of the characteristic function</a:t>
            </a:r>
          </a:p>
        </p:txBody>
      </p:sp>
      <p:sp>
        <p:nvSpPr>
          <p:cNvPr id="6" name="Rectangle: Rounded Corners 5">
            <a:extLst>
              <a:ext uri="{FF2B5EF4-FFF2-40B4-BE49-F238E27FC236}">
                <a16:creationId xmlns:a16="http://schemas.microsoft.com/office/drawing/2014/main" id="{BC13CB83-A646-3131-184B-0D81EACF6B66}"/>
              </a:ext>
            </a:extLst>
          </p:cNvPr>
          <p:cNvSpPr/>
          <p:nvPr/>
        </p:nvSpPr>
        <p:spPr>
          <a:xfrm>
            <a:off x="8303742" y="4258962"/>
            <a:ext cx="3542270" cy="16558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Numerically Inverse Fourier transform (F.F.T) the Carr-Madan Function to obtain the expected payoff for a Call-Option</a:t>
            </a:r>
          </a:p>
        </p:txBody>
      </p:sp>
      <p:sp>
        <p:nvSpPr>
          <p:cNvPr id="9" name="TextBox 8">
            <a:extLst>
              <a:ext uri="{FF2B5EF4-FFF2-40B4-BE49-F238E27FC236}">
                <a16:creationId xmlns:a16="http://schemas.microsoft.com/office/drawing/2014/main" id="{C50EE35B-E8A2-5E58-EE2E-42F8F133E6B2}"/>
              </a:ext>
            </a:extLst>
          </p:cNvPr>
          <p:cNvSpPr txBox="1"/>
          <p:nvPr/>
        </p:nvSpPr>
        <p:spPr>
          <a:xfrm>
            <a:off x="677334" y="6271551"/>
            <a:ext cx="4973734" cy="553998"/>
          </a:xfrm>
          <a:prstGeom prst="rect">
            <a:avLst/>
          </a:prstGeom>
          <a:noFill/>
        </p:spPr>
        <p:txBody>
          <a:bodyPr wrap="none" rtlCol="0">
            <a:spAutoFit/>
          </a:bodyPr>
          <a:lstStyle/>
          <a:p>
            <a:endParaRPr lang="en-US" dirty="0"/>
          </a:p>
          <a:p>
            <a:r>
              <a:rPr lang="en-US" sz="1200" dirty="0"/>
              <a:t>1 - Carr, P., &amp; Madan, D. (1999) </a:t>
            </a:r>
            <a:r>
              <a:rPr lang="en-US" sz="1200" i="1" dirty="0"/>
              <a:t>Journal of computational finance</a:t>
            </a:r>
            <a:r>
              <a:rPr lang="en-US" sz="1200" dirty="0"/>
              <a:t>, </a:t>
            </a:r>
            <a:r>
              <a:rPr lang="en-US" sz="1200" i="1" dirty="0"/>
              <a:t>2</a:t>
            </a:r>
            <a:r>
              <a:rPr lang="en-US" sz="1200" dirty="0"/>
              <a:t>(4), 61-73.</a:t>
            </a:r>
          </a:p>
        </p:txBody>
      </p:sp>
      <p:sp>
        <p:nvSpPr>
          <p:cNvPr id="10" name="Arrow: Right 9">
            <a:extLst>
              <a:ext uri="{FF2B5EF4-FFF2-40B4-BE49-F238E27FC236}">
                <a16:creationId xmlns:a16="http://schemas.microsoft.com/office/drawing/2014/main" id="{34825716-A3C8-BBD5-D643-6D740E16DC9D}"/>
              </a:ext>
            </a:extLst>
          </p:cNvPr>
          <p:cNvSpPr/>
          <p:nvPr/>
        </p:nvSpPr>
        <p:spPr>
          <a:xfrm>
            <a:off x="3937688" y="4917989"/>
            <a:ext cx="280087" cy="189470"/>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5702C50E-486A-8002-3F30-7286B03157EE}"/>
              </a:ext>
            </a:extLst>
          </p:cNvPr>
          <p:cNvSpPr/>
          <p:nvPr/>
        </p:nvSpPr>
        <p:spPr>
          <a:xfrm>
            <a:off x="7933039" y="4917989"/>
            <a:ext cx="280087" cy="189470"/>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132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33283-49D0-5244-1F55-5C84E96FB7D4}"/>
              </a:ext>
            </a:extLst>
          </p:cNvPr>
          <p:cNvSpPr>
            <a:spLocks noGrp="1"/>
          </p:cNvSpPr>
          <p:nvPr>
            <p:ph type="title"/>
          </p:nvPr>
        </p:nvSpPr>
        <p:spPr/>
        <p:txBody>
          <a:bodyPr/>
          <a:lstStyle/>
          <a:p>
            <a:r>
              <a:rPr lang="en-US" dirty="0"/>
              <a:t>Evaluating Delta of option prices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E3D623-99DC-2775-C058-F76F36354117}"/>
                  </a:ext>
                </a:extLst>
              </p:cNvPr>
              <p:cNvSpPr>
                <a:spLocks noGrp="1"/>
              </p:cNvSpPr>
              <p:nvPr>
                <p:ph idx="1"/>
              </p:nvPr>
            </p:nvSpPr>
            <p:spPr/>
            <p:txBody>
              <a:bodyPr>
                <a:normAutofit lnSpcReduction="10000"/>
              </a:bodyPr>
              <a:lstStyle/>
              <a:p>
                <a:r>
                  <a:rPr lang="en-US" dirty="0"/>
                  <a:t>The Carr-Madan method also allows for easily computing the deltas of option pricing without explicit numerical differentiation. Once again, the theory behind this is detailed in the accompanying project report. </a:t>
                </a:r>
              </a:p>
              <a:p>
                <a:endParaRPr lang="en-US" dirty="0"/>
              </a:p>
              <a:p>
                <a:r>
                  <a:rPr lang="en-US" dirty="0"/>
                  <a:t>It involves taking a numerical inverse Fourier transform of a Carr-Madan function modified by a multiplicative factor.</a:t>
                </a:r>
              </a:p>
              <a:p>
                <a:endParaRPr lang="en-US" dirty="0"/>
              </a:p>
              <a:p>
                <a:r>
                  <a:rPr lang="en-US" dirty="0"/>
                  <a:t>In practice, in Monte-Carlo simulations involving hedging, we construct a general delta-surface for a range of expiry times and </a:t>
                </a:r>
                <a:r>
                  <a:rPr lang="en-US" i="1" dirty="0"/>
                  <a:t>log-moneyness </a:t>
                </a:r>
                <a14:m>
                  <m:oMath xmlns:m="http://schemas.openxmlformats.org/officeDocument/2006/math">
                    <m:r>
                      <a:rPr lang="en-US" sz="2400" b="0" i="1" smtClean="0">
                        <a:latin typeface="Cambria Math" panose="02040503050406030204" pitchFamily="18" charset="0"/>
                      </a:rPr>
                      <m:t>𝑙𝑜𝑔</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m:rPr>
                                <m:sty m:val="p"/>
                              </m:rPr>
                              <a:rPr lang="en-US" sz="2400" b="0" i="1" smtClean="0">
                                <a:latin typeface="Cambria Math" panose="02040503050406030204" pitchFamily="18" charset="0"/>
                              </a:rPr>
                              <m:t>K</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0</m:t>
                                </m:r>
                              </m:sub>
                            </m:sSub>
                          </m:den>
                        </m:f>
                      </m:e>
                    </m:d>
                  </m:oMath>
                </a14:m>
                <a:r>
                  <a:rPr lang="en-US" sz="2400" b="0" i="1" dirty="0"/>
                  <a:t> </a:t>
                </a:r>
                <a:r>
                  <a:rPr lang="en-US" dirty="0"/>
                  <a:t> and then construct an interpolation function that returns the Delta for any desired value of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𝑇</m:t>
                    </m:r>
                  </m:oMath>
                </a14:m>
                <a:r>
                  <a:rPr lang="en-US" b="0" i="1" dirty="0"/>
                  <a:t>. </a:t>
                </a:r>
              </a:p>
              <a:p>
                <a:endParaRPr lang="en-US" b="0" i="1" dirty="0"/>
              </a:p>
              <a:p>
                <a:endParaRPr lang="en-US" dirty="0"/>
              </a:p>
            </p:txBody>
          </p:sp>
        </mc:Choice>
        <mc:Fallback>
          <p:sp>
            <p:nvSpPr>
              <p:cNvPr id="3" name="Content Placeholder 2">
                <a:extLst>
                  <a:ext uri="{FF2B5EF4-FFF2-40B4-BE49-F238E27FC236}">
                    <a16:creationId xmlns:a16="http://schemas.microsoft.com/office/drawing/2014/main" id="{36E3D623-99DC-2775-C058-F76F36354117}"/>
                  </a:ext>
                </a:extLst>
              </p:cNvPr>
              <p:cNvSpPr>
                <a:spLocks noGrp="1" noRot="1" noChangeAspect="1" noMove="1" noResize="1" noEditPoints="1" noAdjustHandles="1" noChangeArrowheads="1" noChangeShapeType="1" noTextEdit="1"/>
              </p:cNvSpPr>
              <p:nvPr>
                <p:ph idx="1"/>
              </p:nvPr>
            </p:nvSpPr>
            <p:spPr>
              <a:blipFill>
                <a:blip r:embed="rId2"/>
                <a:stretch>
                  <a:fillRect l="-142" t="-1570"/>
                </a:stretch>
              </a:blipFill>
            </p:spPr>
            <p:txBody>
              <a:bodyPr/>
              <a:lstStyle/>
              <a:p>
                <a:r>
                  <a:rPr lang="en-US">
                    <a:noFill/>
                  </a:rPr>
                  <a:t> </a:t>
                </a:r>
              </a:p>
            </p:txBody>
          </p:sp>
        </mc:Fallback>
      </mc:AlternateContent>
    </p:spTree>
    <p:extLst>
      <p:ext uri="{BB962C8B-B14F-4D97-AF65-F5344CB8AC3E}">
        <p14:creationId xmlns:p14="http://schemas.microsoft.com/office/powerpoint/2010/main" val="3439615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D14D1-D9B2-CD6F-8A90-F8DDF4377D66}"/>
              </a:ext>
            </a:extLst>
          </p:cNvPr>
          <p:cNvSpPr>
            <a:spLocks noGrp="1"/>
          </p:cNvSpPr>
          <p:nvPr>
            <p:ph type="title"/>
          </p:nvPr>
        </p:nvSpPr>
        <p:spPr>
          <a:xfrm>
            <a:off x="187412" y="119014"/>
            <a:ext cx="9121345" cy="1325563"/>
          </a:xfrm>
        </p:spPr>
        <p:txBody>
          <a:bodyPr>
            <a:normAutofit/>
          </a:bodyPr>
          <a:lstStyle/>
          <a:p>
            <a:r>
              <a:rPr lang="en-US" dirty="0"/>
              <a:t>Comparing the Carr-Madan F.F.T method with Monte Carlo Simulations</a:t>
            </a:r>
          </a:p>
        </p:txBody>
      </p:sp>
      <p:pic>
        <p:nvPicPr>
          <p:cNvPr id="9" name="Picture 8">
            <a:extLst>
              <a:ext uri="{FF2B5EF4-FFF2-40B4-BE49-F238E27FC236}">
                <a16:creationId xmlns:a16="http://schemas.microsoft.com/office/drawing/2014/main" id="{5EF7A56E-6A03-E335-BC4D-FEFC924FD6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1483" y="1444577"/>
            <a:ext cx="7909576" cy="5248666"/>
          </a:xfrm>
          <a:prstGeom prst="rect">
            <a:avLst/>
          </a:prstGeom>
        </p:spPr>
      </p:pic>
    </p:spTree>
    <p:extLst>
      <p:ext uri="{BB962C8B-B14F-4D97-AF65-F5344CB8AC3E}">
        <p14:creationId xmlns:p14="http://schemas.microsoft.com/office/powerpoint/2010/main" val="2591613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FB6FE-FDB6-2D8A-5200-DF222A579F2E}"/>
              </a:ext>
            </a:extLst>
          </p:cNvPr>
          <p:cNvSpPr>
            <a:spLocks noGrp="1"/>
          </p:cNvSpPr>
          <p:nvPr>
            <p:ph type="title"/>
          </p:nvPr>
        </p:nvSpPr>
        <p:spPr/>
        <p:txBody>
          <a:bodyPr/>
          <a:lstStyle/>
          <a:p>
            <a:r>
              <a:rPr lang="en-US" dirty="0"/>
              <a:t>Delta Hedging in the Kou Method</a:t>
            </a:r>
          </a:p>
        </p:txBody>
      </p:sp>
      <p:sp>
        <p:nvSpPr>
          <p:cNvPr id="3" name="Content Placeholder 2">
            <a:extLst>
              <a:ext uri="{FF2B5EF4-FFF2-40B4-BE49-F238E27FC236}">
                <a16:creationId xmlns:a16="http://schemas.microsoft.com/office/drawing/2014/main" id="{FA656526-A65F-0FB7-AB3B-F445B2C79CA4}"/>
              </a:ext>
            </a:extLst>
          </p:cNvPr>
          <p:cNvSpPr>
            <a:spLocks noGrp="1"/>
          </p:cNvSpPr>
          <p:nvPr>
            <p:ph idx="1"/>
          </p:nvPr>
        </p:nvSpPr>
        <p:spPr/>
        <p:txBody>
          <a:bodyPr/>
          <a:lstStyle/>
          <a:p>
            <a:r>
              <a:rPr lang="en-US" dirty="0"/>
              <a:t>Usually, for the Black-Scholes method delta-hedging allows for reducing the directional variation of a portfolio containing a call/put option by shorting/buying the same stock, and adjusting the number such that the number of stocks is equal to the delta of the call/put option. </a:t>
            </a:r>
          </a:p>
          <a:p>
            <a:endParaRPr lang="en-US" dirty="0"/>
          </a:p>
          <a:p>
            <a:r>
              <a:rPr lang="en-US" dirty="0"/>
              <a:t>This changes the distribution of the portfolio to minimize the tails, and centers it around the expected payoff. In the mathematically ideal case (continuous hedging), the portfolio value would match the expected payoff perfectly. </a:t>
            </a:r>
          </a:p>
        </p:txBody>
      </p:sp>
    </p:spTree>
    <p:extLst>
      <p:ext uri="{BB962C8B-B14F-4D97-AF65-F5344CB8AC3E}">
        <p14:creationId xmlns:p14="http://schemas.microsoft.com/office/powerpoint/2010/main" val="3221813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4F975-9D79-EB30-80F9-BAE30CDAF5DA}"/>
              </a:ext>
            </a:extLst>
          </p:cNvPr>
          <p:cNvSpPr>
            <a:spLocks noGrp="1"/>
          </p:cNvSpPr>
          <p:nvPr>
            <p:ph type="title"/>
          </p:nvPr>
        </p:nvSpPr>
        <p:spPr>
          <a:xfrm>
            <a:off x="838200" y="175655"/>
            <a:ext cx="10515600" cy="1325563"/>
          </a:xfrm>
        </p:spPr>
        <p:txBody>
          <a:bodyPr/>
          <a:lstStyle/>
          <a:p>
            <a:r>
              <a:rPr lang="en-US" dirty="0"/>
              <a:t>Monte Carlo with Delta Hedging</a:t>
            </a:r>
          </a:p>
        </p:txBody>
      </p:sp>
      <p:pic>
        <p:nvPicPr>
          <p:cNvPr id="9" name="Picture 8">
            <a:extLst>
              <a:ext uri="{FF2B5EF4-FFF2-40B4-BE49-F238E27FC236}">
                <a16:creationId xmlns:a16="http://schemas.microsoft.com/office/drawing/2014/main" id="{24064234-33C7-6394-890D-A4CD3AEC4C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119" y="1273318"/>
            <a:ext cx="8476505" cy="5266954"/>
          </a:xfrm>
          <a:prstGeom prst="rect">
            <a:avLst/>
          </a:prstGeom>
        </p:spPr>
      </p:pic>
    </p:spTree>
    <p:extLst>
      <p:ext uri="{BB962C8B-B14F-4D97-AF65-F5344CB8AC3E}">
        <p14:creationId xmlns:p14="http://schemas.microsoft.com/office/powerpoint/2010/main" val="2425937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E97F5-9AC4-B582-5A90-C945BB7525DC}"/>
              </a:ext>
            </a:extLst>
          </p:cNvPr>
          <p:cNvSpPr>
            <a:spLocks noGrp="1"/>
          </p:cNvSpPr>
          <p:nvPr>
            <p:ph type="title"/>
          </p:nvPr>
        </p:nvSpPr>
        <p:spPr/>
        <p:txBody>
          <a:bodyPr/>
          <a:lstStyle/>
          <a:p>
            <a:r>
              <a:rPr lang="en-US" dirty="0"/>
              <a:t>Delta Hedging in the Kou Method</a:t>
            </a:r>
          </a:p>
        </p:txBody>
      </p:sp>
      <p:sp>
        <p:nvSpPr>
          <p:cNvPr id="3" name="Content Placeholder 2">
            <a:extLst>
              <a:ext uri="{FF2B5EF4-FFF2-40B4-BE49-F238E27FC236}">
                <a16:creationId xmlns:a16="http://schemas.microsoft.com/office/drawing/2014/main" id="{E9824865-A221-9A24-853D-BCB0B7602AC8}"/>
              </a:ext>
            </a:extLst>
          </p:cNvPr>
          <p:cNvSpPr>
            <a:spLocks noGrp="1"/>
          </p:cNvSpPr>
          <p:nvPr>
            <p:ph idx="1"/>
          </p:nvPr>
        </p:nvSpPr>
        <p:spPr/>
        <p:txBody>
          <a:bodyPr/>
          <a:lstStyle/>
          <a:p>
            <a:r>
              <a:rPr lang="en-US" dirty="0"/>
              <a:t>As we saw from the histograms of the Monte-Carlo simulations, when applied to the Kou-Model Delta-Hedging does not completely remove the extremal cases, and in fact even allows for a non-trivial probability for the portfolio value to become negative.</a:t>
            </a:r>
          </a:p>
          <a:p>
            <a:r>
              <a:rPr lang="en-US" dirty="0"/>
              <a:t>This is because while Delta-Hedging protects against infinitesimal changes, it is less effective against sudden large jumps, which the Kou-Model allows for. </a:t>
            </a:r>
          </a:p>
          <a:p>
            <a:r>
              <a:rPr lang="en-US" dirty="0"/>
              <a:t>Hence, one needs more appropriate hedging techniques, such as combining Delta-Hedging with appropriately weighed static hedges. </a:t>
            </a:r>
          </a:p>
          <a:p>
            <a:endParaRPr lang="en-US" dirty="0"/>
          </a:p>
        </p:txBody>
      </p:sp>
    </p:spTree>
    <p:extLst>
      <p:ext uri="{BB962C8B-B14F-4D97-AF65-F5344CB8AC3E}">
        <p14:creationId xmlns:p14="http://schemas.microsoft.com/office/powerpoint/2010/main" val="3204636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79.4526"/>
  <p:tag name="ORIGINALWIDTH" val="2204.724"/>
  <p:tag name="OUTPUTTYPE" val="PNG"/>
  <p:tag name="IGUANATEXVERSION" val="161"/>
  <p:tag name="LATEXADDIN" val="\documentclass{article}&#10;\usepackage{amsmath,physics,xcolor}&#10;\pagestyle{empty}&#10;\begin{document}&#10;&#10;&#10;$$&#10;X(t)=\left(r-\frac{\sigma^2}{2}-\lambda \kappa\right) t+\sigma W_t+\sum_{i=1}^{N(t)} Y_i&#10;$$&#10;&#10;\end{document}"/>
  <p:tag name="IGUANATEXSIZE" val="24"/>
  <p:tag name="IGUANATEXCURSOR" val="188"/>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897.6378"/>
  <p:tag name="OUTPUTTYPE" val="PNG"/>
  <p:tag name="IGUANATEXVERSION" val="161"/>
  <p:tag name="LATEXADDIN" val="\documentclass{article}&#10;\usepackage{amsmath,physics,xcolor}&#10;\pagestyle{empty}&#10;\begin{document}&#10;&#10;&#10;$$&#10;X(t) \equiv \log (\frac{S_t}{S_0})&#10;$$&#10;&#10;\end{document}"/>
  <p:tag name="IGUANATEXSIZE" val="24"/>
  <p:tag name="IGUANATEXCURSOR" val="11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379.4526"/>
  <p:tag name="ORIGINALWIDTH" val="2204.724"/>
  <p:tag name="OUTPUTTYPE" val="PNG"/>
  <p:tag name="IGUANATEXVERSION" val="161"/>
  <p:tag name="LATEXADDIN" val="\documentclass{article}&#10;\usepackage{amsmath,physics,xcolor}&#10;\pagestyle{empty}&#10;\begin{document}&#10;&#10;&#10;$$&#10;X(t)=\left(r-\frac{\sigma^2}{2}-\lambda \kappa\right) t+\sigma W_t+\sum_{i=1}^{N(t)} Y_i&#10;$$&#10;&#10;\end{document}"/>
  <p:tag name="IGUANATEXSIZE" val="24"/>
  <p:tag name="IGUANATEXCURSOR" val="188"/>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89.23882"/>
  <p:tag name="ORIGINALWIDTH" val="587.9265"/>
  <p:tag name="OUTPUTTYPE" val="PNG"/>
  <p:tag name="IGUANATEXVERSION" val="161"/>
  <p:tag name="LATEXADDIN" val="\documentclass{article}&#10;\usepackage{amsmath,physics,xcolor}&#10;\pagestyle{empty}&#10;\begin{document}&#10;&#10;&#10;Drift Term&#10;&#10;\end{document}"/>
  <p:tag name="IGUANATEXSIZE" val="24"/>
  <p:tag name="IGUANATEXCURSOR" val="107"/>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843.6446"/>
  <p:tag name="OUTPUTTYPE" val="PNG"/>
  <p:tag name="IGUANATEXVERSION" val="161"/>
  <p:tag name="LATEXADDIN" val="\documentclass{article}&#10;\usepackage{amsmath,physics,xcolor}&#10;\pagestyle{empty}&#10;\begin{document}&#10;&#10;&#10;Brownian Term&#10;&#10;\end{document}"/>
  <p:tag name="IGUANATEXSIZE" val="24"/>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08.7364"/>
  <p:tag name="ORIGINALWIDTH" val="675.6655"/>
  <p:tag name="OUTPUTTYPE" val="PNG"/>
  <p:tag name="IGUANATEXVERSION" val="161"/>
  <p:tag name="LATEXADDIN" val="\documentclass{article}&#10;\usepackage{amsmath,physics,xcolor}&#10;\pagestyle{empty}&#10;\begin{document}&#10;&#10;&#10;Jump Terms&#10;&#10;\end{document}"/>
  <p:tag name="IGUANATEXSIZE" val="24"/>
  <p:tag name="IGUANATEXCURSOR" val="107"/>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710.1613"/>
  <p:tag name="OUTPUTTYPE" val="PNG"/>
  <p:tag name="IGUANATEXVERSION" val="161"/>
  <p:tag name="LATEXADDIN" val="\documentclass{article}&#10;\usepackage{amsmath,physics,xcolor}&#10;\pagestyle{empty}&#10;\begin{document}&#10;Probability $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924.6344"/>
  <p:tag name="OUTPUTTYPE" val="PNG"/>
  <p:tag name="IGUANATEXVERSION" val="161"/>
  <p:tag name="LATEXADDIN" val="\documentclass{article}&#10;\usepackage{amsmath,physics,xcolor}&#10;\pagestyle{empty}&#10;\begin{document}&#10;Probability $1-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g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l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656.9178"/>
  <p:tag name="OUTPUTTYPE" val="PNG"/>
  <p:tag name="IGUANATEXVERSION" val="161"/>
  <p:tag name="LATEXADDIN" val="\documentclass{article}&#10;\usepackage{amsmath,physics,xcolor}&#10;\pagestyle{empty}&#10;\begin{document}&#10;&#10;&#10;$$&#10;\rho(Y) = e^{\eta_2Y}&#10;$$&#10;&#10;\end{document}"/>
  <p:tag name="IGUANATEXSIZE" val="16"/>
  <p:tag name="IGUANATEXCURSOR" val="12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34.9081"/>
  <p:tag name="OUTPUTTYPE" val="PNG"/>
  <p:tag name="IGUANATEXVERSION" val="161"/>
  <p:tag name="LATEXADDIN" val="\documentclass{article}&#10;\usepackage{amsmath,physics,xcolor}&#10;\pagestyle{empty}&#10;\begin{document}&#10;&#10;&#10;$$&#10;\rho(Y) = e^{-\eta_1Y}&#10;$$&#10;&#10;\end{document}"/>
  <p:tag name="IGUANATEXSIZE" val="16"/>
  <p:tag name="IGUANATEXCURSOR" val="12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2418.448"/>
  <p:tag name="OUTPUTTYPE" val="PNG"/>
  <p:tag name="IGUANATEXVERSION" val="161"/>
  <p:tag name="LATEXADDIN" val="\documentclass{article}&#10;\usepackage{amsmath,physics,xcolor}&#10;\pagestyle{empty}&#10;\begin{document}&#10;&#10;&#10;$$&#10;Y_i = \begin{cases}&#10;Y_+ (\text{ upward jump}) ; \text{Probability p}\\&#10;Y_- (\text{ downward jump}) ; \text{Probability 1-p}\\&#10;\end{cases}&#10;$$&#10;&#10;\end{document}"/>
  <p:tag name="IGUANATEXSIZE" val="18"/>
  <p:tag name="IGUANATEXCURSOR" val="192"/>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13.1609"/>
  <p:tag name="OUTPUTTYPE" val="PNG"/>
  <p:tag name="IGUANATEXVERSION" val="161"/>
  <p:tag name="LATEXADDIN" val="\documentclass{article}&#10;\usepackage{amsmath,physics,xcolor}&#10;\pagestyle{empty}&#10;\begin{document}&#10;&#10;&#10;$$&#10;\rho(Y_{-}) = e^{\eta_2Y}&#10;$$&#10;&#10;\end{document}"/>
  <p:tag name="IGUANATEXSIZE" val="18"/>
  <p:tag name="IGUANATEXCURSOR" val="109"/>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89.6512"/>
  <p:tag name="OUTPUTTYPE" val="PNG"/>
  <p:tag name="IGUANATEXVERSION" val="161"/>
  <p:tag name="LATEXADDIN" val="\documentclass{article}&#10;\usepackage{amsmath,physics,xcolor}&#10;\pagestyle{empty}&#10;\begin{document}&#10;&#10;&#10;$$&#10;\rho(Y_+) = e^{-\eta_1Y}&#10;$$&#10;&#10;\end{document}"/>
  <p:tag name="IGUANATEXSIZE" val="18"/>
  <p:tag name="IGUANATEXCURSOR" val="108"/>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710.1613"/>
  <p:tag name="OUTPUTTYPE" val="PNG"/>
  <p:tag name="IGUANATEXVERSION" val="161"/>
  <p:tag name="LATEXADDIN" val="\documentclass{article}&#10;\usepackage{amsmath,physics,xcolor}&#10;\pagestyle{empty}&#10;\begin{document}&#10;Probability $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924.6344"/>
  <p:tag name="OUTPUTTYPE" val="PNG"/>
  <p:tag name="IGUANATEXVERSION" val="161"/>
  <p:tag name="LATEXADDIN" val="\documentclass{article}&#10;\usepackage{amsmath,physics,xcolor}&#10;\pagestyle{empty}&#10;\begin{document}&#10;Probability $1-p$ &#10;&#10;\end{document}"/>
  <p:tag name="IGUANATEXSIZE" val="16"/>
  <p:tag name="IGUANATEXCURSOR" val="11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g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9.4601"/>
  <p:tag name="OUTPUTTYPE" val="PNG"/>
  <p:tag name="IGUANATEXVERSION" val="161"/>
  <p:tag name="LATEXADDIN" val="\documentclass{article}&#10;\usepackage{amsmath,physics,xcolor}&#10;\pagestyle{empty}&#10;\begin{document}&#10;&#10;&#10;$$&#10;Y&lt;0&#10;$$&#10;&#10;\end{document}"/>
  <p:tag name="IGUANATEXSIZE" val="18"/>
  <p:tag name="IGUANATEXCURSOR" val="101"/>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656.9178"/>
  <p:tag name="OUTPUTTYPE" val="PNG"/>
  <p:tag name="IGUANATEXVERSION" val="161"/>
  <p:tag name="LATEXADDIN" val="\documentclass{article}&#10;\usepackage{amsmath,physics,xcolor}&#10;\pagestyle{empty}&#10;\begin{document}&#10;&#10;&#10;$$&#10;\rho(Y) = e^{\eta_2Y}&#10;$$&#10;&#10;\end{document}"/>
  <p:tag name="IGUANATEXSIZE" val="16"/>
  <p:tag name="IGUANATEXCURSOR" val="120"/>
  <p:tag name="TRANSPARENCY" val="True"/>
  <p:tag name="LATEXENGINEID" val="0"/>
  <p:tag name="TEMPFOLDER" val="C:\Users\power\OneDrive\Documents\Academic\IguanaTex\"/>
  <p:tag name="LATEXFORMHEIGHT" val="320"/>
  <p:tag name="LATEXFORMWIDTH" val="38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42.4822"/>
  <p:tag name="ORIGINALWIDTH" val="734.9081"/>
  <p:tag name="OUTPUTTYPE" val="PNG"/>
  <p:tag name="IGUANATEXVERSION" val="161"/>
  <p:tag name="LATEXADDIN" val="\documentclass{article}&#10;\usepackage{amsmath,physics,xcolor}&#10;\pagestyle{empty}&#10;\begin{document}&#10;&#10;&#10;$$&#10;\rho(Y) = e^{-\eta_1Y}&#10;$$&#10;&#10;\end{document}"/>
  <p:tag name="IGUANATEXSIZE" val="16"/>
  <p:tag name="IGUANATEXCURSOR" val="121"/>
  <p:tag name="TRANSPARENCY" val="True"/>
  <p:tag name="LATEXENGINEID" val="0"/>
  <p:tag name="TEMPFOLDER" val="C:\Users\power\OneDrive\Documents\Academic\IguanaTex\"/>
  <p:tag name="LATEXFORMHEIGHT" val="320"/>
  <p:tag name="LATEXFORMWIDTH" val="385"/>
  <p:tag name="LATEXFORMWRAP" val="True"/>
  <p:tag name="BITMAPVECTOR" val="0"/>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145</TotalTime>
  <Words>737</Words>
  <Application>Microsoft Office PowerPoint</Application>
  <PresentationFormat>Widescreen</PresentationFormat>
  <Paragraphs>47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 Math</vt:lpstr>
      <vt:lpstr>Trebuchet MS</vt:lpstr>
      <vt:lpstr>Wingdings 3</vt:lpstr>
      <vt:lpstr>Facet</vt:lpstr>
      <vt:lpstr>Kou Model and Delta Hedging</vt:lpstr>
      <vt:lpstr>Project Overview</vt:lpstr>
      <vt:lpstr>What is the Kou Model</vt:lpstr>
      <vt:lpstr>Kou Model</vt:lpstr>
      <vt:lpstr>Jump Terms </vt:lpstr>
      <vt:lpstr>Jump Terms </vt:lpstr>
      <vt:lpstr>Why the Kou-model instead of the Merton-model?</vt:lpstr>
      <vt:lpstr>Evaluating Call Option Prices : Carr-Madan Method</vt:lpstr>
      <vt:lpstr>Evaluating Delta of option prices</vt:lpstr>
      <vt:lpstr>Comparing the Carr-Madan F.F.T method with Monte Carlo Simulations</vt:lpstr>
      <vt:lpstr>Delta Hedging in the Kou Method</vt:lpstr>
      <vt:lpstr>Monte Carlo with Delta Hedging</vt:lpstr>
      <vt:lpstr>Delta Hedging in the Kou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gautam hegde</dc:creator>
  <cp:lastModifiedBy>gautam hegde</cp:lastModifiedBy>
  <cp:revision>6</cp:revision>
  <dcterms:created xsi:type="dcterms:W3CDTF">2026-03-20T20:01:01Z</dcterms:created>
  <dcterms:modified xsi:type="dcterms:W3CDTF">2026-03-20T22:26:12Z</dcterms:modified>
</cp:coreProperties>
</file>